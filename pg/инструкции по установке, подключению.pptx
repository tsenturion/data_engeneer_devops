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333" r:id="rId2"/>
    <p:sldId id="269" r:id="rId3"/>
    <p:sldId id="265" r:id="rId4"/>
    <p:sldId id="257" r:id="rId5"/>
    <p:sldId id="258" r:id="rId6"/>
    <p:sldId id="259" r:id="rId7"/>
    <p:sldId id="260" r:id="rId8"/>
    <p:sldId id="332" r:id="rId9"/>
    <p:sldId id="270" r:id="rId10"/>
    <p:sldId id="272" r:id="rId11"/>
    <p:sldId id="273" r:id="rId12"/>
    <p:sldId id="274" r:id="rId13"/>
    <p:sldId id="275" r:id="rId14"/>
    <p:sldId id="277" r:id="rId15"/>
    <p:sldId id="278" r:id="rId16"/>
    <p:sldId id="279" r:id="rId17"/>
    <p:sldId id="330" r:id="rId18"/>
    <p:sldId id="280" r:id="rId19"/>
    <p:sldId id="281" r:id="rId20"/>
    <p:sldId id="282" r:id="rId21"/>
    <p:sldId id="325" r:id="rId22"/>
    <p:sldId id="326" r:id="rId23"/>
    <p:sldId id="327" r:id="rId24"/>
    <p:sldId id="328" r:id="rId25"/>
    <p:sldId id="329" r:id="rId26"/>
    <p:sldId id="331" r:id="rId27"/>
    <p:sldId id="283" r:id="rId28"/>
    <p:sldId id="261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9" autoAdjust="0"/>
    <p:restoredTop sz="94660"/>
  </p:normalViewPr>
  <p:slideViewPr>
    <p:cSldViewPr snapToGrid="0">
      <p:cViewPr varScale="1">
        <p:scale>
          <a:sx n="96" d="100"/>
          <a:sy n="96" d="100"/>
        </p:scale>
        <p:origin x="294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DF3997-ED8C-4E86-A3FB-87C5CE5994C9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28489-0575-4F62-8C37-29A1BB9F9A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2870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3" name="Google Shape;513;g3d5ca5d6e35_0_1358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028950" y="642938"/>
            <a:ext cx="3086100" cy="17351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4" name="Google Shape;514;g3d5ca5d6e35_0_1358:notes"/>
          <p:cNvSpPr txBox="1">
            <a:spLocks noGrp="1"/>
          </p:cNvSpPr>
          <p:nvPr>
            <p:ph type="body" idx="1"/>
          </p:nvPr>
        </p:nvSpPr>
        <p:spPr bwMode="auto">
          <a:xfrm>
            <a:off x="914400" y="2475309"/>
            <a:ext cx="7315200" cy="20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sz="1200" dirty="0"/>
              <a:t>Переходим на сайт </a:t>
            </a:r>
            <a:r>
              <a:rPr lang="ru-RU" sz="1200" dirty="0" err="1"/>
              <a:t>GitHub</a:t>
            </a:r>
            <a:r>
              <a:rPr lang="ru-RU" sz="1200" dirty="0"/>
              <a:t> и нажимаем </a:t>
            </a:r>
            <a:r>
              <a:rPr lang="ru-RU" sz="1200" dirty="0" err="1"/>
              <a:t>Sign</a:t>
            </a:r>
            <a:r>
              <a:rPr lang="ru-RU" sz="1200" dirty="0"/>
              <a:t> Up. Этот сервис потребуется для авторизации в </a:t>
            </a:r>
            <a:r>
              <a:rPr lang="ru-RU" sz="1200" dirty="0" err="1"/>
              <a:t>Docker</a:t>
            </a:r>
            <a:r>
              <a:rPr lang="ru-RU" sz="1200" dirty="0"/>
              <a:t> и дальнейшей работы с инструментами разработки. Начинаем процесс создания аккаунта.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ru-RU" sz="1200" b="1" dirty="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ru-RU" sz="1200" b="1" dirty="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dirty="0"/>
              <a:t>GitHub</a:t>
            </a:r>
            <a:r>
              <a:rPr lang="en-US" sz="1200" dirty="0"/>
              <a:t> — </a:t>
            </a:r>
            <a:r>
              <a:rPr lang="en-US" sz="1200" dirty="0" err="1"/>
              <a:t>это</a:t>
            </a:r>
            <a:r>
              <a:rPr lang="en-US" sz="1200" dirty="0"/>
              <a:t> </a:t>
            </a:r>
            <a:r>
              <a:rPr lang="en-US" sz="1200" dirty="0" err="1"/>
              <a:t>платформа</a:t>
            </a:r>
            <a:r>
              <a:rPr lang="en-US" sz="1200" dirty="0"/>
              <a:t> </a:t>
            </a:r>
            <a:r>
              <a:rPr lang="en-US" sz="1200" dirty="0" err="1"/>
              <a:t>для</a:t>
            </a:r>
            <a:r>
              <a:rPr lang="en-US" sz="1200" dirty="0"/>
              <a:t> </a:t>
            </a:r>
            <a:r>
              <a:rPr lang="en-US" sz="1200" dirty="0" err="1"/>
              <a:t>хранения</a:t>
            </a:r>
            <a:r>
              <a:rPr lang="en-US" sz="1200" dirty="0"/>
              <a:t> и </a:t>
            </a:r>
            <a:r>
              <a:rPr lang="en-US" sz="1200" dirty="0" err="1"/>
              <a:t>управления</a:t>
            </a:r>
            <a:r>
              <a:rPr lang="en-US" sz="1200" dirty="0"/>
              <a:t> </a:t>
            </a:r>
            <a:r>
              <a:rPr lang="en-US" sz="1200" dirty="0" err="1"/>
              <a:t>кодом</a:t>
            </a:r>
            <a:r>
              <a:rPr lang="en-US" sz="1200" dirty="0"/>
              <a:t>. В </a:t>
            </a:r>
            <a:r>
              <a:rPr lang="en-US" sz="1200" dirty="0" err="1"/>
              <a:t>контексте</a:t>
            </a:r>
            <a:r>
              <a:rPr lang="en-US" sz="1200" dirty="0"/>
              <a:t> </a:t>
            </a:r>
            <a:r>
              <a:rPr lang="en-US" sz="1200" dirty="0" err="1"/>
              <a:t>нашего</a:t>
            </a:r>
            <a:r>
              <a:rPr lang="en-US" sz="1200" dirty="0"/>
              <a:t> </a:t>
            </a:r>
            <a:r>
              <a:rPr lang="en-US" sz="1200" dirty="0" err="1"/>
              <a:t>занятия</a:t>
            </a:r>
            <a:r>
              <a:rPr lang="en-US" sz="1200" dirty="0"/>
              <a:t> GitHub </a:t>
            </a:r>
            <a:r>
              <a:rPr lang="en-US" sz="1200" dirty="0" err="1"/>
              <a:t>нужен</a:t>
            </a:r>
            <a:r>
              <a:rPr lang="en-US" sz="1200" dirty="0"/>
              <a:t> </a:t>
            </a:r>
            <a:r>
              <a:rPr lang="en-US" sz="1200" dirty="0" err="1"/>
              <a:t>для</a:t>
            </a:r>
            <a:r>
              <a:rPr lang="en-US" sz="1200" dirty="0"/>
              <a:t> </a:t>
            </a:r>
            <a:r>
              <a:rPr lang="en-US" sz="1200" dirty="0" err="1"/>
              <a:t>регистрации</a:t>
            </a:r>
            <a:r>
              <a:rPr lang="en-US" sz="1200" dirty="0"/>
              <a:t> </a:t>
            </a:r>
            <a:r>
              <a:rPr lang="en-US" sz="1200" dirty="0" err="1"/>
              <a:t>аккаунта</a:t>
            </a:r>
            <a:r>
              <a:rPr lang="en-US" sz="1200" dirty="0"/>
              <a:t>, </a:t>
            </a:r>
            <a:r>
              <a:rPr lang="en-US" sz="1200" dirty="0" err="1"/>
              <a:t>который</a:t>
            </a:r>
            <a:r>
              <a:rPr lang="en-US" sz="1200" dirty="0"/>
              <a:t> </a:t>
            </a:r>
            <a:r>
              <a:rPr lang="en-US" sz="1200" dirty="0" err="1"/>
              <a:t>потом</a:t>
            </a:r>
            <a:r>
              <a:rPr lang="en-US" sz="1200" dirty="0"/>
              <a:t> </a:t>
            </a:r>
            <a:r>
              <a:rPr lang="en-US" sz="1200" dirty="0" err="1"/>
              <a:t>используется</a:t>
            </a:r>
            <a:r>
              <a:rPr lang="en-US" sz="1200" dirty="0"/>
              <a:t> </a:t>
            </a:r>
            <a:r>
              <a:rPr lang="en-US" sz="1200" dirty="0" err="1"/>
              <a:t>при</a:t>
            </a:r>
            <a:r>
              <a:rPr lang="en-US" sz="1200" dirty="0"/>
              <a:t> </a:t>
            </a:r>
            <a:r>
              <a:rPr lang="en-US" sz="1200" dirty="0" err="1"/>
              <a:t>входе</a:t>
            </a:r>
            <a:r>
              <a:rPr lang="en-US" sz="1200" dirty="0"/>
              <a:t> в Docker Desktop и </a:t>
            </a:r>
            <a:r>
              <a:rPr lang="en-US" sz="1200" dirty="0" err="1"/>
              <a:t>другие</a:t>
            </a:r>
            <a:r>
              <a:rPr lang="en-US" sz="1200" dirty="0"/>
              <a:t> </a:t>
            </a:r>
            <a:r>
              <a:rPr lang="en-US" sz="1200" dirty="0" err="1"/>
              <a:t>инструменты</a:t>
            </a:r>
            <a:r>
              <a:rPr lang="en-US" sz="1200" dirty="0"/>
              <a:t> </a:t>
            </a:r>
            <a:r>
              <a:rPr lang="en-US" sz="1200" dirty="0" err="1"/>
              <a:t>экосистемы</a:t>
            </a:r>
            <a:r>
              <a:rPr lang="en-US" sz="1200" dirty="0"/>
              <a:t>.</a:t>
            </a:r>
            <a:endParaRPr sz="1200" dirty="0"/>
          </a:p>
        </p:txBody>
      </p:sp>
      <p:sp>
        <p:nvSpPr>
          <p:cNvPr id="515" name="Google Shape;515;g3d5ca5d6e35_0_1358:notes"/>
          <p:cNvSpPr txBox="1">
            <a:spLocks noGrp="1"/>
          </p:cNvSpPr>
          <p:nvPr>
            <p:ph type="sldNum" idx="12"/>
          </p:nvPr>
        </p:nvSpPr>
        <p:spPr bwMode="auto">
          <a:xfrm>
            <a:off x="5179484" y="4885432"/>
            <a:ext cx="39624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dirty="0"/>
              <a:t>Можно упростить процесс и выбрать регистрацию через Google-аккаунт. Это позволяет не создавать отдельный пароль и ускоряет вход. Подтверждаем выбор и продолжаем.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22</a:t>
            </a:fld>
            <a:endParaRPr lang="en-US"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7334995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dirty="0"/>
              <a:t>Система запрашивает разрешение на использование аккаунта Google. Подтверждаем доступ и завершаем этап авторизации. После этого происходит вход в </a:t>
            </a:r>
            <a:r>
              <a:rPr lang="ru-RU" dirty="0" err="1"/>
              <a:t>GitHub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23</a:t>
            </a:fld>
            <a:endParaRPr lang="en-US"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5453058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dirty="0"/>
              <a:t>Указываем </a:t>
            </a:r>
            <a:r>
              <a:rPr lang="ru-RU" dirty="0" err="1"/>
              <a:t>username</a:t>
            </a:r>
            <a:r>
              <a:rPr lang="ru-RU" dirty="0"/>
              <a:t> и выбираем страну. </a:t>
            </a:r>
            <a:r>
              <a:rPr lang="ru-RU" dirty="0" err="1"/>
              <a:t>Username</a:t>
            </a:r>
            <a:r>
              <a:rPr lang="ru-RU" dirty="0"/>
              <a:t> будет использоваться как публичный идентификатор в системе. Эти данные можно задать произвольно, но они должны быть уникальными.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24</a:t>
            </a:fld>
            <a:endParaRPr lang="en-US"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497302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dirty="0"/>
              <a:t>Проходим проверку (капчу), после чего аккаунт считается созданным. Теперь доступен полный функционал </a:t>
            </a:r>
            <a:r>
              <a:rPr lang="ru-RU" dirty="0" err="1"/>
              <a:t>GitHub</a:t>
            </a:r>
            <a:r>
              <a:rPr lang="ru-RU" dirty="0"/>
              <a:t>. Можно переходить к интеграции с </a:t>
            </a:r>
            <a:r>
              <a:rPr lang="ru-RU" dirty="0" err="1"/>
              <a:t>Docker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25</a:t>
            </a:fld>
            <a:endParaRPr lang="en-US"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177453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3B1813-9775-F8D0-E5ED-7941C9E1DC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A671CF2-2696-7EA8-FEB1-30B4B1F269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F7A967-168A-FFAB-78C6-0D2C1C4A8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E5914-582D-4A2B-A66F-2D52F009874E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ADEBC6-3460-6053-6338-EE77E28C5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A4E015-6132-24D0-A9C7-59CB7D836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88BAE-BCC7-4155-8E4F-A361F1AE21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4373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EB0953-C16F-5B39-177F-BC3DC4624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6A35A1-3B2D-A561-57F9-7F258EAC0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38A943-C9CC-E443-88AC-B85B853AF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E5914-582D-4A2B-A66F-2D52F009874E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4407937-19DE-B653-9DAE-DA0628453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A1BEA3-61DE-2E27-5FE0-9E359E77E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88BAE-BCC7-4155-8E4F-A361F1AE21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2638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956457-DA15-0D33-48C8-47FC502CA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983EB4-459A-039F-BFF8-904D57E4A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4FAD3D-1D9E-08AB-2622-EEEA1DFD1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E5914-582D-4A2B-A66F-2D52F009874E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523DAE-F6F4-5B48-D787-D8AD663A9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2960D7-DFFC-3697-030E-107152B90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88BAE-BCC7-4155-8E4F-A361F1AE21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6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5F9BF6-3E03-5F02-13F8-DDA2F1EF9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5A6FE1-CF97-AF9B-2AE9-B3CF5CE699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8BF1340-7681-D0B5-AE08-9DE6A41461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3BDED88-7FBE-1140-51A1-4BC75F45A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E5914-582D-4A2B-A66F-2D52F009874E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72C5AD2-43CB-D508-23A1-3CF17E59D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770EE24-A1B4-3FFB-C527-9B1DFEF2B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88BAE-BCC7-4155-8E4F-A361F1AE21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4307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0E3E38-2978-948E-3BC0-7AF38FFF1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F371104-F422-DA15-A1AE-10D339CA4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471B829-EF7A-D028-BF60-3FBB3CB6A2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F354E22-56BC-46B3-E97C-47370CC4F2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825A855-8EB4-E201-1072-36F88B514C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B39496D-0F57-38EC-8DA8-6BCCD40AC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E5914-582D-4A2B-A66F-2D52F009874E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09F15E8-DFEB-1A08-514C-7DB762AFB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A3FCDDD-F58F-9C0E-67C4-C6C08F934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88BAE-BCC7-4155-8E4F-A361F1AE21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6355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DE8A98-D96A-4B59-0593-8CF45587B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27D7FE1-8A1C-EC96-25FD-5A6D74FA5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E5914-582D-4A2B-A66F-2D52F009874E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7223592-5505-4B2C-8173-28DF4B8D3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06E6EA1-B5F1-C124-4D4B-0C4B6C58C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88BAE-BCC7-4155-8E4F-A361F1AE21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0005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DA8C83D-E803-EBDE-2FDF-2BA871AC5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E5914-582D-4A2B-A66F-2D52F009874E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6C5C52D-ED44-BBE3-17EB-21D06A4B9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50F91F-D3E3-22A0-CF95-1FC6FBE9E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88BAE-BCC7-4155-8E4F-A361F1AE21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1496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BD322F-007C-E3FC-DA46-3491D17E8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61BF7D-1110-ABE3-BE3C-6DC0221A7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D89CA0C-4897-C821-7BC5-FA088D895D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67A1EFA-B508-20EA-E8A5-A45DD0E6C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E5914-582D-4A2B-A66F-2D52F009874E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6808436-36A9-C29E-E5B3-04D46F5D6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068715F-0359-F76A-AC3D-CA9FD8E4C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88BAE-BCC7-4155-8E4F-A361F1AE21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257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B6EBEA-46A3-7688-DADC-972E3725D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ADAF717-F9AF-887B-D7B2-D1EB351AFD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BFA101-F1CB-CA60-BA65-6513AE7448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CA430B2-6EC1-8350-5818-13091C35B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E5914-582D-4A2B-A66F-2D52F009874E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CA464DD-614E-2FB2-BE11-971584FAA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68EA792-0577-1C45-F874-21AE3F7BE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88BAE-BCC7-4155-8E4F-A361F1AE21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7580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2DC1DB-B92D-8DAD-4328-CAD3C7BBD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0726811-FADF-7DFA-1AD7-0E83C9F79C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350DA6-85F8-E0B7-8ECB-4066DB263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E5914-582D-4A2B-A66F-2D52F009874E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98723F7-6269-AC0F-4B90-DA7A3F4DF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DF4326-CAFF-53D3-5E69-BA5DF754B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88BAE-BCC7-4155-8E4F-A361F1AE21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6973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2BB9289-58F6-1061-2C48-203507CBA7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B5FFE5F-DFFE-8558-FB9E-6E3FB84E5E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0C4925-0D2C-6446-3B7B-8DF5B2EAF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E5914-582D-4A2B-A66F-2D52F009874E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D4CC80-50ED-D656-5B3D-EF0DF48A5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158C58-A6EF-8812-F007-1E06026D7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88BAE-BCC7-4155-8E4F-A361F1AE21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8298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F51BAE-6788-78D4-AEDC-C76C9F6F9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0D66EA4-6C99-7317-354A-6A6E801F8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E10E40A-C989-620D-AF12-42D4892D49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6E5914-582D-4A2B-A66F-2D52F009874E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2478710-9A08-E694-0838-7FEC053522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411EFC-011A-6A70-AB9D-91F90C8386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788BAE-BCC7-4155-8E4F-A361F1AE21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1473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isk.yandex.ru/d/347qwFu8JL2U6w" TargetMode="External"/><Relationship Id="rId2" Type="http://schemas.openxmlformats.org/officeDocument/2006/relationships/hyperlink" Target="https://dbeaver.io/download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practicum.yandex.ru/blog/menedzher-baz-dannyh-dbeaver/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b-fiddle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db-fiddle.com/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ettings/copilot/features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github.com/signup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3F6F8-FA07-A644-9326-E2BF8B80A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A2F178-2550-24DC-47A2-453775CA7C10}"/>
              </a:ext>
            </a:extLst>
          </p:cNvPr>
          <p:cNvSpPr txBox="1"/>
          <p:nvPr/>
        </p:nvSpPr>
        <p:spPr>
          <a:xfrm>
            <a:off x="501926" y="769490"/>
            <a:ext cx="892906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Скачайте</a:t>
            </a:r>
            <a:r>
              <a:rPr lang="en-US" dirty="0"/>
              <a:t>/</a:t>
            </a:r>
            <a:r>
              <a:rPr lang="ru-RU" dirty="0"/>
              <a:t>установите:</a:t>
            </a:r>
            <a:endParaRPr lang="ru-RU" dirty="0">
              <a:hlinkClick r:id="rId2"/>
            </a:endParaRPr>
          </a:p>
          <a:p>
            <a:r>
              <a:rPr lang="ru-RU" dirty="0">
                <a:hlinkClick r:id="rId2"/>
              </a:rPr>
              <a:t>https://dbeaver.io/download/</a:t>
            </a:r>
            <a:endParaRPr lang="ru-RU" dirty="0"/>
          </a:p>
          <a:p>
            <a:endParaRPr lang="ru-RU" dirty="0"/>
          </a:p>
          <a:p>
            <a:r>
              <a:rPr lang="ru-RU" dirty="0"/>
              <a:t>Если у вас не открывается</a:t>
            </a:r>
            <a:r>
              <a:rPr lang="en-US" dirty="0"/>
              <a:t>/</a:t>
            </a:r>
            <a:r>
              <a:rPr lang="ru-RU" dirty="0"/>
              <a:t>не загружается и ваша система </a:t>
            </a:r>
            <a:r>
              <a:rPr lang="en-US" dirty="0"/>
              <a:t>Windows 64, </a:t>
            </a:r>
            <a:r>
              <a:rPr lang="ru-RU" dirty="0"/>
              <a:t>то можете скачать по этой ссылке</a:t>
            </a:r>
          </a:p>
          <a:p>
            <a:endParaRPr lang="ru-RU" dirty="0"/>
          </a:p>
          <a:p>
            <a:r>
              <a:rPr lang="en-US" dirty="0">
                <a:hlinkClick r:id="rId3"/>
              </a:rPr>
              <a:t>https://disk.yandex.ru/d/347qwFu8JL2U6w</a:t>
            </a:r>
            <a:endParaRPr lang="en-US" dirty="0"/>
          </a:p>
          <a:p>
            <a:endParaRPr lang="en-US" dirty="0"/>
          </a:p>
          <a:p>
            <a:r>
              <a:rPr lang="ru-RU" dirty="0"/>
              <a:t>При установке программы можете везде нажимать далее</a:t>
            </a:r>
            <a:r>
              <a:rPr lang="en-US" dirty="0"/>
              <a:t>/</a:t>
            </a:r>
            <a:r>
              <a:rPr lang="ru-RU" dirty="0"/>
              <a:t>принимаю</a:t>
            </a:r>
            <a:r>
              <a:rPr lang="en-US" dirty="0"/>
              <a:t>/</a:t>
            </a:r>
            <a:r>
              <a:rPr lang="ru-RU" dirty="0"/>
              <a:t>установить. Ставить дополнительные галочки не требуется</a:t>
            </a:r>
          </a:p>
        </p:txBody>
      </p:sp>
    </p:spTree>
    <p:extLst>
      <p:ext uri="{BB962C8B-B14F-4D97-AF65-F5344CB8AC3E}">
        <p14:creationId xmlns:p14="http://schemas.microsoft.com/office/powerpoint/2010/main" val="4097775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9FD83-A35B-19C1-1AFF-E85A3753D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7150F3A-4120-F76B-593B-797516F8BFA4}"/>
              </a:ext>
            </a:extLst>
          </p:cNvPr>
          <p:cNvSpPr txBox="1"/>
          <p:nvPr/>
        </p:nvSpPr>
        <p:spPr>
          <a:xfrm>
            <a:off x="450548" y="194374"/>
            <a:ext cx="965257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Если это приложение есть в меню пуск, то все установлено корректно</a:t>
            </a:r>
            <a:r>
              <a:rPr lang="en-US" dirty="0"/>
              <a:t> </a:t>
            </a:r>
            <a:r>
              <a:rPr lang="ru-RU" dirty="0"/>
              <a:t>и следуйте инструкции далее (просто нажимайте по стрелочкам). Следующие шаги подразумевают наличии корректно </a:t>
            </a:r>
            <a:r>
              <a:rPr lang="en-US" dirty="0"/>
              <a:t>PostgreSQL</a:t>
            </a:r>
            <a:endParaRPr lang="ru-RU" dirty="0"/>
          </a:p>
          <a:p>
            <a:endParaRPr lang="en-US" dirty="0"/>
          </a:p>
          <a:p>
            <a:r>
              <a:rPr lang="ru-RU" dirty="0"/>
              <a:t>При желании, можете изучить эту ссылку, которая поможет разобраться в работе приложения :</a:t>
            </a:r>
            <a:endParaRPr lang="en-US" dirty="0"/>
          </a:p>
          <a:p>
            <a:r>
              <a:rPr lang="en-US" dirty="0">
                <a:hlinkClick r:id="rId2"/>
              </a:rPr>
              <a:t>https://practicum.yandex.ru/blog/menedzher-baz-dannyh-dbeaver/</a:t>
            </a:r>
            <a:endParaRPr lang="en-US" dirty="0"/>
          </a:p>
          <a:p>
            <a:endParaRPr lang="ru-RU" dirty="0"/>
          </a:p>
        </p:txBody>
      </p:sp>
      <p:pic>
        <p:nvPicPr>
          <p:cNvPr id="4" name="Рисунок 3" descr="Изображение выглядит как текст, снимок экрана, программное обеспечение, веб-страниц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C8A83FE-1225-AFFB-C2CF-8227B644F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949" y="2340047"/>
            <a:ext cx="7202557" cy="4370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453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8445F-AFBB-F029-B836-893FF4A88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текст, снимок экрана, диаграмм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4FA36E8-58A9-A768-22EA-E89C5F64D0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268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791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B6768-4E21-3141-4599-71407E3DD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45AC070-BD12-414B-3DC3-D6DB481196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8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572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CFC77-7F00-C1DA-13DF-98B82EB68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75F45F5-80AA-634E-173D-2277DE2F3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095" y="0"/>
            <a:ext cx="88658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351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91D74-F2C7-5B49-A38E-BC0DEA841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F417471-64FC-E5E1-A9BD-5CBE60171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"/>
            <a:ext cx="12192000" cy="6850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282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BF16C-DDEE-11D9-9D8F-7E89A94EC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Шрифт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A2ABA71-8D79-8728-6A46-0AB0BFD17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7573" y="2619789"/>
            <a:ext cx="5819775" cy="3009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2D2143-3AEB-4F17-AA66-DD27241B844D}"/>
              </a:ext>
            </a:extLst>
          </p:cNvPr>
          <p:cNvSpPr txBox="1"/>
          <p:nvPr/>
        </p:nvSpPr>
        <p:spPr>
          <a:xfrm>
            <a:off x="566530" y="637457"/>
            <a:ext cx="74841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Нажмите на стрелочку	должна появиться галочка </a:t>
            </a:r>
          </a:p>
        </p:txBody>
      </p:sp>
      <p:pic>
        <p:nvPicPr>
          <p:cNvPr id="5" name="Рисунок 4" descr="Изображение выглядит как символ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D57FBD0-0529-CB8E-B206-BD6EAA86A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3045" y="506007"/>
            <a:ext cx="421999" cy="72456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7218344-EF40-1919-E2D2-614F6637C1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6933" y="737172"/>
            <a:ext cx="400050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39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F088C-0D8D-0D26-7E6F-59832CC83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F3B980-D6C9-6217-B1D0-365F9BAAB9F9}"/>
              </a:ext>
            </a:extLst>
          </p:cNvPr>
          <p:cNvSpPr txBox="1"/>
          <p:nvPr/>
        </p:nvSpPr>
        <p:spPr>
          <a:xfrm>
            <a:off x="566530" y="637457"/>
            <a:ext cx="74841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Если такая ошибка, то значит надо включить </a:t>
            </a:r>
            <a:r>
              <a:rPr lang="ru-RU" sz="2400" dirty="0" err="1"/>
              <a:t>вм</a:t>
            </a:r>
            <a:r>
              <a:rPr lang="en-US" sz="2400" dirty="0"/>
              <a:t>/</a:t>
            </a:r>
            <a:r>
              <a:rPr lang="ru-RU" sz="2400" dirty="0" err="1"/>
              <a:t>бд</a:t>
            </a:r>
            <a:endParaRPr lang="ru-RU" sz="24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9DCC046-E60A-F776-53FB-47551F707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0" y="1695450"/>
            <a:ext cx="704850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295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9D3FDC2-1E34-F602-D5F8-DB7A874D9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текст, Шрифт, число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2613247-5904-8143-D569-84C55AB46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3161"/>
            <a:ext cx="12192000" cy="42866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E287348-70E5-5590-69DD-04223DA610DD}"/>
              </a:ext>
            </a:extLst>
          </p:cNvPr>
          <p:cNvSpPr txBox="1"/>
          <p:nvPr/>
        </p:nvSpPr>
        <p:spPr>
          <a:xfrm>
            <a:off x="566530" y="637457"/>
            <a:ext cx="91539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Создайте редактор для </a:t>
            </a:r>
            <a:r>
              <a:rPr lang="en-US" sz="2400" dirty="0"/>
              <a:t>SQL. </a:t>
            </a:r>
            <a:r>
              <a:rPr lang="ru-RU" sz="2400" dirty="0"/>
              <a:t>Там мы будем писать код</a:t>
            </a:r>
          </a:p>
        </p:txBody>
      </p:sp>
    </p:spTree>
    <p:extLst>
      <p:ext uri="{BB962C8B-B14F-4D97-AF65-F5344CB8AC3E}">
        <p14:creationId xmlns:p14="http://schemas.microsoft.com/office/powerpoint/2010/main" val="1092290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C37E9-9772-E2A3-615A-4819A05BD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3141AD4-67C9-E850-C28F-4AF71B0CA7B9}"/>
              </a:ext>
            </a:extLst>
          </p:cNvPr>
          <p:cNvSpPr txBox="1"/>
          <p:nvPr/>
        </p:nvSpPr>
        <p:spPr>
          <a:xfrm>
            <a:off x="566530" y="637457"/>
            <a:ext cx="91539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Попробуйте написать тестовый запрос и запустить его. Если вы увидели результат снизу, то все работает</a:t>
            </a:r>
          </a:p>
        </p:txBody>
      </p:sp>
      <p:pic>
        <p:nvPicPr>
          <p:cNvPr id="7" name="Рисунок 6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080C4AC-A54F-28E7-2B02-FB4BCA047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965" y="2249060"/>
            <a:ext cx="6452152" cy="4172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742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20B0DFE-0052-9EF2-4E3C-3C22EAA21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41" y="854852"/>
            <a:ext cx="5038639" cy="54227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35B6E7-E58F-C796-8A37-0F34D7044884}"/>
              </a:ext>
            </a:extLst>
          </p:cNvPr>
          <p:cNvSpPr txBox="1"/>
          <p:nvPr/>
        </p:nvSpPr>
        <p:spPr>
          <a:xfrm>
            <a:off x="115544" y="94926"/>
            <a:ext cx="60951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Как сделать </a:t>
            </a:r>
            <a:r>
              <a:rPr lang="en-US" dirty="0"/>
              <a:t>SQL</a:t>
            </a:r>
            <a:r>
              <a:rPr lang="ru-RU" dirty="0"/>
              <a:t> код заглавными?</a:t>
            </a:r>
          </a:p>
        </p:txBody>
      </p:sp>
    </p:spTree>
    <p:extLst>
      <p:ext uri="{BB962C8B-B14F-4D97-AF65-F5344CB8AC3E}">
        <p14:creationId xmlns:p14="http://schemas.microsoft.com/office/powerpoint/2010/main" val="33847862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DAEE7-B971-3872-E331-CC306F4FE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DD44F9E-27E0-C4DC-3643-833CD90CD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65" y="0"/>
            <a:ext cx="111802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363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7BF01-B3C4-A1F1-AC14-616B1D268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C212187-9922-27CC-3B37-EFF741C89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309"/>
            <a:ext cx="12192000" cy="6653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565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42420-49ED-D835-9D12-7022B65C2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96C19FC-4C3E-0CE9-365B-8B3038D3D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821" y="1020338"/>
            <a:ext cx="7849997" cy="56186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644448-313D-10DA-DB04-19AC31D2804B}"/>
              </a:ext>
            </a:extLst>
          </p:cNvPr>
          <p:cNvSpPr txBox="1"/>
          <p:nvPr/>
        </p:nvSpPr>
        <p:spPr>
          <a:xfrm>
            <a:off x="115543" y="94926"/>
            <a:ext cx="81250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https://www.db-fiddle/</a:t>
            </a:r>
            <a:endParaRPr lang="en-US" dirty="0"/>
          </a:p>
          <a:p>
            <a:r>
              <a:rPr lang="en-US" dirty="0">
                <a:hlinkClick r:id="rId4"/>
              </a:rPr>
              <a:t>https://www.db-fiddle.com/</a:t>
            </a:r>
            <a:endParaRPr lang="en-US" dirty="0"/>
          </a:p>
          <a:p>
            <a:r>
              <a:rPr lang="en-US" dirty="0"/>
              <a:t> </a:t>
            </a:r>
            <a:r>
              <a:rPr lang="ru-RU" dirty="0"/>
              <a:t>на тот случай, если у вас не получилось установить </a:t>
            </a:r>
          </a:p>
        </p:txBody>
      </p:sp>
    </p:spTree>
    <p:extLst>
      <p:ext uri="{BB962C8B-B14F-4D97-AF65-F5344CB8AC3E}">
        <p14:creationId xmlns:p14="http://schemas.microsoft.com/office/powerpoint/2010/main" val="1863223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D05405-D402-62B8-E867-6C2623347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Подключение </a:t>
            </a:r>
            <a:r>
              <a:rPr lang="en-US" dirty="0" err="1"/>
              <a:t>openai</a:t>
            </a:r>
            <a:r>
              <a:rPr lang="ru-RU" dirty="0"/>
              <a:t> в </a:t>
            </a:r>
            <a:r>
              <a:rPr lang="en-US" dirty="0" err="1"/>
              <a:t>dbeaver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44F93E-146F-B176-DB59-A7D7790A1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 наличии ключа</a:t>
            </a:r>
          </a:p>
        </p:txBody>
      </p:sp>
    </p:spTree>
    <p:extLst>
      <p:ext uri="{BB962C8B-B14F-4D97-AF65-F5344CB8AC3E}">
        <p14:creationId xmlns:p14="http://schemas.microsoft.com/office/powerpoint/2010/main" val="31000361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E4D500-E9E5-8FB2-DF1C-DE7599A919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FE6F3AB-7C69-704C-A1E4-37047BC0F5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8630B70-23B9-E7A5-C4D3-B27DC1288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805" y="0"/>
            <a:ext cx="95983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3232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BD057-0849-C679-5FDA-951E49E44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9AA605-ED43-8665-5DD7-4DB2FE91E7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AA3B7DF-B6DD-0409-874A-253D65199F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EE1D921-014F-4343-CE6C-C0F1CE689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9" y="0"/>
            <a:ext cx="119832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4652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60A90-B485-1F68-C0F6-B61E310F2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818DD5-C418-1030-9E2D-1028C1444B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CDF08AA-71D9-AB79-4FEE-DB23518E70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341580D-EC10-2B14-0A56-1934A2070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240" y="0"/>
            <a:ext cx="86455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1105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618A0-CB27-0885-6904-B418CA0AC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F55CE5-CFF7-6779-C295-B5AF5DDE16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37049D8-D0F1-BD5D-74D7-595755F57E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017D58E-0020-E17A-1778-B76F7EBAD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5" y="1924050"/>
            <a:ext cx="11715750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2911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09ABB-947A-387F-60D4-409B65775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1CBFDD-0573-6733-5CE6-4C9FFF34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Подключение </a:t>
            </a:r>
            <a:r>
              <a:rPr lang="en-US" dirty="0"/>
              <a:t>copilot</a:t>
            </a:r>
            <a:r>
              <a:rPr lang="ru-RU" dirty="0"/>
              <a:t> в </a:t>
            </a:r>
            <a:r>
              <a:rPr lang="en-US" dirty="0" err="1"/>
              <a:t>dbeaver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4E9B19-02EC-A122-A6EF-2C2644B8D5DF}"/>
              </a:ext>
            </a:extLst>
          </p:cNvPr>
          <p:cNvSpPr txBox="1"/>
          <p:nvPr/>
        </p:nvSpPr>
        <p:spPr>
          <a:xfrm>
            <a:off x="838200" y="1833037"/>
            <a:ext cx="6096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hlinkClick r:id="rId2"/>
              </a:rPr>
              <a:t>https://github.com/settings/copilot/features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67636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17" name="Google Shape;517;g3d5ca5d6e35_0_1358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4109201" y="1411817"/>
            <a:ext cx="7604431" cy="4575399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g3d5ca5d6e35_0_1358"/>
          <p:cNvSpPr txBox="1"/>
          <p:nvPr/>
        </p:nvSpPr>
        <p:spPr bwMode="auto">
          <a:xfrm>
            <a:off x="679771" y="5695510"/>
            <a:ext cx="6095679" cy="66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>
              <a:defRPr/>
            </a:pPr>
            <a:r>
              <a:rPr lang="en-US" sz="1867" u="sng">
                <a:solidFill>
                  <a:schemeClr val="dk1"/>
                </a:solidFill>
                <a:latin typeface="Calibri"/>
                <a:ea typeface="Calibri"/>
                <a:cs typeface="Calibri"/>
                <a:hlinkClick r:id="rId4" tooltip="https://github.com/"/>
              </a:rPr>
              <a:t>https://github.com</a:t>
            </a:r>
            <a:endParaRPr sz="1867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sz="1867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99143073" name="TextBox 1699143072"/>
          <p:cNvSpPr txBox="1"/>
          <p:nvPr/>
        </p:nvSpPr>
        <p:spPr bwMode="auto">
          <a:xfrm>
            <a:off x="679772" y="1876135"/>
            <a:ext cx="2800217" cy="1101264"/>
          </a:xfrm>
          <a:prstGeom prst="rect">
            <a:avLst/>
          </a:prstGeom>
          <a:noFill/>
        </p:spPr>
        <p:txBody>
          <a:bodyPr vertOverflow="overflow" horzOverflow="overflow" vert="horz" wrap="square" lIns="121920" tIns="60960" rIns="121920" bIns="6096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1867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Преходим на </a:t>
            </a:r>
            <a:r>
              <a:rPr sz="1867" u="sng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GitHub</a:t>
            </a:r>
            <a:r>
              <a:rPr sz="1867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 и начинаем регистрацию</a:t>
            </a:r>
            <a:endParaRPr sz="2400"/>
          </a:p>
        </p:txBody>
      </p:sp>
      <p:sp>
        <p:nvSpPr>
          <p:cNvPr id="1289498715" name="Google Shape;247;g3d5ca5d6e35_0_606"/>
          <p:cNvSpPr/>
          <p:nvPr/>
        </p:nvSpPr>
        <p:spPr bwMode="auto">
          <a:xfrm>
            <a:off x="659196" y="532380"/>
            <a:ext cx="11364000" cy="507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defRPr/>
            </a:pPr>
            <a:r>
              <a:rPr lang="en-US" sz="3733" b="1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Регистрация в GitHub </a:t>
            </a:r>
            <a:endParaRPr sz="3733" b="1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4" name="Google Shape;524;g3d5ca5d6e35_0_1366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3358273" y="1492915"/>
            <a:ext cx="8156697" cy="4863435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g3d5ca5d6e35_0_1366"/>
          <p:cNvSpPr txBox="1"/>
          <p:nvPr/>
        </p:nvSpPr>
        <p:spPr bwMode="auto">
          <a:xfrm>
            <a:off x="310672" y="6022950"/>
            <a:ext cx="6095200" cy="66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>
              <a:defRPr/>
            </a:pPr>
            <a:r>
              <a:rPr lang="en-US" sz="1867" u="sng">
                <a:solidFill>
                  <a:schemeClr val="dk1"/>
                </a:solidFill>
                <a:latin typeface="Calibri"/>
                <a:ea typeface="Calibri"/>
                <a:cs typeface="Calibri"/>
                <a:hlinkClick r:id="rId4" tooltip="http://github.com/signup"/>
              </a:rPr>
              <a:t>http://github.com/signup</a:t>
            </a:r>
            <a:endParaRPr sz="1867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sz="1867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50091002" name="TextBox 1250091001"/>
          <p:cNvSpPr txBox="1"/>
          <p:nvPr/>
        </p:nvSpPr>
        <p:spPr bwMode="auto">
          <a:xfrm>
            <a:off x="679772" y="1876135"/>
            <a:ext cx="2798777" cy="1427314"/>
          </a:xfrm>
          <a:prstGeom prst="rect">
            <a:avLst/>
          </a:prstGeom>
          <a:noFill/>
        </p:spPr>
        <p:txBody>
          <a:bodyPr vertOverflow="overflow" horzOverflow="overflow" vert="horz" wrap="square" lIns="121920" tIns="60960" rIns="121920" bIns="6096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1867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Используйте упрощенную регистрацию через Google-аккаунт</a:t>
            </a:r>
            <a:endParaRPr sz="2400"/>
          </a:p>
        </p:txBody>
      </p:sp>
      <p:sp>
        <p:nvSpPr>
          <p:cNvPr id="1881432734" name="Google Shape;247;g3d5ca5d6e35_0_606"/>
          <p:cNvSpPr/>
          <p:nvPr/>
        </p:nvSpPr>
        <p:spPr bwMode="auto">
          <a:xfrm>
            <a:off x="659196" y="532380"/>
            <a:ext cx="11364000" cy="507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defRPr/>
            </a:pPr>
            <a:r>
              <a:rPr lang="en-US" sz="3733" b="1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Регистрация через Gmail </a:t>
            </a:r>
            <a:endParaRPr sz="3733" b="1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1" name="Google Shape;531;g3d5ca5d6e35_0_1373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3609431" y="1120598"/>
            <a:ext cx="8466301" cy="4868604"/>
          </a:xfrm>
          <a:prstGeom prst="rect">
            <a:avLst/>
          </a:prstGeom>
          <a:noFill/>
          <a:ln>
            <a:noFill/>
          </a:ln>
        </p:spPr>
      </p:pic>
      <p:sp>
        <p:nvSpPr>
          <p:cNvPr id="76264152" name="TextBox 76264151"/>
          <p:cNvSpPr txBox="1"/>
          <p:nvPr/>
        </p:nvSpPr>
        <p:spPr bwMode="auto">
          <a:xfrm>
            <a:off x="679772" y="1388215"/>
            <a:ext cx="2798777" cy="1101264"/>
          </a:xfrm>
          <a:prstGeom prst="rect">
            <a:avLst/>
          </a:prstGeom>
          <a:noFill/>
        </p:spPr>
        <p:txBody>
          <a:bodyPr vertOverflow="overflow" horzOverflow="overflow" vert="horz" wrap="square" lIns="121920" tIns="60960" rIns="121920" bIns="60960" numCol="1" spcCol="0" rtlCol="0" fromWordArt="0" anchor="t" anchorCtr="0" forceAA="0" compatLnSpc="0">
            <a:spAutoFit/>
          </a:bodyPr>
          <a:lstStyle/>
          <a:p>
            <a:pPr>
              <a:defRPr/>
            </a:pPr>
            <a:br>
              <a:rPr sz="1867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</a:br>
            <a:r>
              <a:rPr sz="1867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Подтверждаем авторизацию</a:t>
            </a:r>
            <a:endParaRPr sz="2400"/>
          </a:p>
        </p:txBody>
      </p:sp>
      <p:sp>
        <p:nvSpPr>
          <p:cNvPr id="1372364919" name="Google Shape;247;g3d5ca5d6e35_0_606"/>
          <p:cNvSpPr/>
          <p:nvPr/>
        </p:nvSpPr>
        <p:spPr bwMode="auto">
          <a:xfrm>
            <a:off x="659196" y="532380"/>
            <a:ext cx="11364000" cy="507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defRPr/>
            </a:pPr>
            <a:r>
              <a:rPr lang="en-US" sz="3733" b="1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Подтверждение входа </a:t>
            </a:r>
            <a:endParaRPr sz="3733" b="1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7" name="Google Shape;537;g3d5ca5d6e35_0_1379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3739318" y="1274315"/>
            <a:ext cx="8283879" cy="4714888"/>
          </a:xfrm>
          <a:prstGeom prst="rect">
            <a:avLst/>
          </a:prstGeom>
          <a:noFill/>
          <a:ln>
            <a:noFill/>
          </a:ln>
        </p:spPr>
      </p:pic>
      <p:sp>
        <p:nvSpPr>
          <p:cNvPr id="2030568348" name="TextBox 2030568347"/>
          <p:cNvSpPr txBox="1"/>
          <p:nvPr/>
        </p:nvSpPr>
        <p:spPr bwMode="auto">
          <a:xfrm>
            <a:off x="679772" y="1876135"/>
            <a:ext cx="2805497" cy="1427314"/>
          </a:xfrm>
          <a:prstGeom prst="rect">
            <a:avLst/>
          </a:prstGeom>
          <a:noFill/>
        </p:spPr>
        <p:txBody>
          <a:bodyPr vertOverflow="overflow" horzOverflow="overflow" vert="horz" wrap="square" lIns="121920" tIns="60960" rIns="121920" bIns="6096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1867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Проводим настройку профиля:</a:t>
            </a:r>
            <a:br>
              <a:rPr sz="1867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</a:br>
            <a:r>
              <a:rPr sz="1867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вводим username и страна</a:t>
            </a:r>
            <a:endParaRPr sz="2400"/>
          </a:p>
        </p:txBody>
      </p:sp>
      <p:sp>
        <p:nvSpPr>
          <p:cNvPr id="244531783" name="Google Shape;247;g3d5ca5d6e35_0_606"/>
          <p:cNvSpPr/>
          <p:nvPr/>
        </p:nvSpPr>
        <p:spPr bwMode="auto">
          <a:xfrm>
            <a:off x="659196" y="532380"/>
            <a:ext cx="11364000" cy="507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defRPr/>
            </a:pPr>
            <a:r>
              <a:rPr lang="en-US" sz="3733" b="1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Настройка профиля </a:t>
            </a:r>
            <a:endParaRPr sz="3733" b="1">
              <a:latin typeface="Open Sans"/>
              <a:cs typeface="Open Sans"/>
            </a:endParaRPr>
          </a:p>
        </p:txBody>
      </p:sp>
      <p:sp>
        <p:nvSpPr>
          <p:cNvPr id="1547627085" name="Овал 1547627084"/>
          <p:cNvSpPr/>
          <p:nvPr/>
        </p:nvSpPr>
        <p:spPr bwMode="auto">
          <a:xfrm>
            <a:off x="8270908" y="2222499"/>
            <a:ext cx="3304885" cy="2142276"/>
          </a:xfrm>
          <a:prstGeom prst="ellipse">
            <a:avLst/>
          </a:prstGeom>
          <a:noFill/>
          <a:ln w="12699" cap="flat" cmpd="sng" algn="ctr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3" name="Google Shape;543;g3d5ca5d6e35_0_1385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3412997" y="1501600"/>
            <a:ext cx="8300635" cy="4728768"/>
          </a:xfrm>
          <a:prstGeom prst="rect">
            <a:avLst/>
          </a:prstGeom>
          <a:noFill/>
          <a:ln>
            <a:noFill/>
          </a:ln>
        </p:spPr>
      </p:pic>
      <p:sp>
        <p:nvSpPr>
          <p:cNvPr id="338851778" name="Google Shape;247;g3d5ca5d6e35_0_606"/>
          <p:cNvSpPr/>
          <p:nvPr/>
        </p:nvSpPr>
        <p:spPr bwMode="auto">
          <a:xfrm>
            <a:off x="659196" y="532380"/>
            <a:ext cx="11364000" cy="507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defRPr/>
            </a:pPr>
            <a:r>
              <a:rPr lang="en-US" sz="3733" b="1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Завершение регистрации </a:t>
            </a:r>
            <a:endParaRPr sz="3733" b="1">
              <a:latin typeface="Open Sans"/>
              <a:cs typeface="Open Sans"/>
            </a:endParaRPr>
          </a:p>
        </p:txBody>
      </p:sp>
      <p:sp>
        <p:nvSpPr>
          <p:cNvPr id="801245046" name="TextBox 801245045"/>
          <p:cNvSpPr txBox="1"/>
          <p:nvPr/>
        </p:nvSpPr>
        <p:spPr bwMode="auto">
          <a:xfrm>
            <a:off x="659196" y="1746250"/>
            <a:ext cx="2812696" cy="1427314"/>
          </a:xfrm>
          <a:prstGeom prst="rect">
            <a:avLst/>
          </a:prstGeom>
          <a:noFill/>
        </p:spPr>
        <p:txBody>
          <a:bodyPr vertOverflow="overflow" horzOverflow="overflow" vert="horz" wrap="square" lIns="121920" tIns="60960" rIns="121920" bIns="60960" numCol="1" spcCol="0" rtlCol="0" fromWordArt="0" anchor="t" anchorCtr="0" forceAA="0" compatLnSpc="0">
            <a:spAutoFit/>
          </a:bodyPr>
          <a:lstStyle/>
          <a:p>
            <a:pPr>
              <a:defRPr/>
            </a:pPr>
            <a:br>
              <a:rPr sz="1867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</a:br>
            <a:r>
              <a:rPr sz="1867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После прохождения капчи создается аккаунт </a:t>
            </a:r>
            <a:endParaRPr sz="2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28F48-17F6-E64D-6161-DA9375A5C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694491-0A2F-C776-A76F-78DF656069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ABDDC6E-B5E9-958D-BAED-2F31D7D3BE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1136DD7-3294-3074-1934-03B555607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9" y="0"/>
            <a:ext cx="119832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227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D1A9A-13B3-0B28-3608-E9A403114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D2D04A3-0C9C-1401-AB1B-A70C07A8E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383" y="0"/>
            <a:ext cx="92412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7287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B99BE-A2AA-325D-CE08-A30565D32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D060BC9-3847-5BE1-1553-4EE04924B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781" y="0"/>
            <a:ext cx="83924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4160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D5EAB-DB2B-658B-AF29-5A2ACE347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B5D7535-93DF-8F92-CC71-FAE5D5602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780" y="0"/>
            <a:ext cx="83564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7867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25FBC-676F-2F1C-125F-2D1E04538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B93F642-F6E9-C5E6-EDAB-E4189EF09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9144"/>
            <a:ext cx="12192000" cy="6439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9906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BAF9-1C50-C37F-FAED-B52C9D6A9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F4F0C76-2A92-50FF-F2A9-21C0E2380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200" y="0"/>
            <a:ext cx="10497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2674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E3D2E-86B9-65D0-414A-F600E7C0A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BF542F9-ACAA-A4CF-E4E5-FAF87472D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997" y="0"/>
            <a:ext cx="85180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8644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B18C7-2048-B741-00AB-9E569E2B7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084CECC-83F5-11FC-95B8-F8A1BB7C9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7013"/>
            <a:ext cx="12192000" cy="592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2567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35E0F-070A-26F1-D21F-00953A3B6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F32A635-DCFC-E21E-C3AF-2F04B9152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049" y="0"/>
            <a:ext cx="82619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8009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9E59C-0A49-D891-33B2-8590BD421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831A4FE-F963-7548-D8B5-3CBF188A1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996" y="0"/>
            <a:ext cx="83960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4125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06139-0592-9344-34A0-0AC664107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5DE2FD8-C1C9-42D4-D0CE-42BF9A45F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965" y="0"/>
            <a:ext cx="82420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4790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1D966-9E7F-16AE-CE5C-E06AF02AB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EADB4EA-C108-EEB5-2C6B-4E274C385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9171"/>
            <a:ext cx="12192000" cy="3199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16073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429</Words>
  <Application>Microsoft Office PowerPoint</Application>
  <PresentationFormat>Широкоэкранный</PresentationFormat>
  <Paragraphs>49</Paragraphs>
  <Slides>37</Slides>
  <Notes>5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2" baseType="lpstr">
      <vt:lpstr>Arial</vt:lpstr>
      <vt:lpstr>Calibri</vt:lpstr>
      <vt:lpstr>Calibri Light</vt:lpstr>
      <vt:lpstr>Open Sans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Подключение openai в dbeaver</vt:lpstr>
      <vt:lpstr>Презентация PowerPoint</vt:lpstr>
      <vt:lpstr>Презентация PowerPoint</vt:lpstr>
      <vt:lpstr>Презентация PowerPoint</vt:lpstr>
      <vt:lpstr>Презентация PowerPoint</vt:lpstr>
      <vt:lpstr>Подключение copilot в dbeaver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Ефимов Матвей Александрович</dc:creator>
  <cp:lastModifiedBy>Ефимов Матвей Александрович</cp:lastModifiedBy>
  <cp:revision>2</cp:revision>
  <dcterms:created xsi:type="dcterms:W3CDTF">2026-09-19T14:38:48Z</dcterms:created>
  <dcterms:modified xsi:type="dcterms:W3CDTF">2026-09-20T09:33:57Z</dcterms:modified>
</cp:coreProperties>
</file>